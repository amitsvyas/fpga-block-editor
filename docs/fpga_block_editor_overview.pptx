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5029200" cy="5029200"/>
          </a:xfrm>
          <a:prstGeom prst="ellipse">
            <a:avLst/>
          </a:prstGeom>
          <a:solidFill>
            <a:srgbClr val="2D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181F8"/>
                </a:solidFill>
              </a:rPr>
              <a:t>LATTICE AVANT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E2E8F0"/>
                </a:solidFill>
              </a:rPr>
              <a:t>FPGA Block Editor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375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1A1AA"/>
                </a:solidFill>
              </a:rPr>
              <a:t>Visual system-level design tool for Field &amp; Regional Application Engineers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4160520"/>
            <a:ext cx="11823192" cy="18288"/>
          </a:xfrm>
          <a:prstGeom prst="rect">
            <a:avLst/>
          </a:prstGeom>
          <a:solidFill>
            <a:srgbClr val="25253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1717A"/>
                </a:solidFill>
              </a:rPr>
              <a:t>Web-based  ·  No install  ·  Exports Verilog, VHDL &amp; JSON netlist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64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181F8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0"/>
                </a:solidFill>
              </a:rPr>
              <a:t>Today's workflow has gaps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5577840" cy="1828800"/>
          </a:xfrm>
          <a:prstGeom prst="rect">
            <a:avLst/>
          </a:prstGeom>
          <a:solidFill>
            <a:srgbClr val="252538"/>
          </a:solidFill>
          <a:ln w="1270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581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</a:rP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1848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E8F0"/>
                </a:solidFill>
              </a:rPr>
              <a:t>PowerPoint diagrams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2167128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</a:rPr>
              <a:t>Blocks and arrows with no defined port types, bus widths, or clock domains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17320"/>
            <a:ext cx="5577840" cy="1828800"/>
          </a:xfrm>
          <a:prstGeom prst="rect">
            <a:avLst/>
          </a:prstGeom>
          <a:solidFill>
            <a:srgbClr val="252538"/>
          </a:solidFill>
          <a:ln w="1270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581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</a:rPr>
              <a:t>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61848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E8F0"/>
                </a:solidFill>
              </a:rPr>
              <a:t>No connectivity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2167128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</a:rPr>
              <a:t>Nothing stops you drawing clock→data or output→output connections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520439"/>
            <a:ext cx="5577840" cy="1828800"/>
          </a:xfrm>
          <a:prstGeom prst="rect">
            <a:avLst/>
          </a:prstGeom>
          <a:solidFill>
            <a:srgbClr val="252538"/>
          </a:solidFill>
          <a:ln w="1270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3685031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</a:rPr>
              <a:t>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21607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E8F0"/>
                </a:solidFill>
              </a:rPr>
              <a:t>Manual translation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4270247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</a:rPr>
              <a:t>Engineers re-enter the same topology by hand in Radiant or Vivado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520439"/>
            <a:ext cx="5577840" cy="1828800"/>
          </a:xfrm>
          <a:prstGeom prst="rect">
            <a:avLst/>
          </a:prstGeom>
          <a:solidFill>
            <a:srgbClr val="252538"/>
          </a:solidFill>
          <a:ln w="1270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3685031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</a:rPr>
              <a:t>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721607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E8F0"/>
                </a:solidFill>
              </a:rPr>
              <a:t>Version drift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4270247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</a:rPr>
              <a:t>The diagram and the actual HDL quickly go out of sync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64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181F8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0"/>
                </a:solidFill>
              </a:rPr>
              <a:t>One tool — from diagram to RTL</a:t>
            </a:r>
          </a:p>
        </p:txBody>
      </p:sp>
      <p:sp>
        <p:nvSpPr>
          <p:cNvPr id="5" name="Rectangle 4"/>
          <p:cNvSpPr/>
          <p:nvPr/>
        </p:nvSpPr>
        <p:spPr>
          <a:xfrm>
            <a:off x="2834640" y="2011680"/>
            <a:ext cx="320040" cy="73152"/>
          </a:xfrm>
          <a:prstGeom prst="rect">
            <a:avLst/>
          </a:prstGeom>
          <a:solidFill>
            <a:srgbClr val="71717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371600"/>
            <a:ext cx="2560320" cy="4389120"/>
          </a:xfrm>
          <a:prstGeom prst="rect">
            <a:avLst/>
          </a:prstGeom>
          <a:solidFill>
            <a:srgbClr val="252538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155448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53619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1E2E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77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F46E5"/>
                </a:solidFill>
              </a:rPr>
              <a:t>Drag blocks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7180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1A1AA"/>
                </a:solidFill>
              </a:rPr>
              <a:t>Choose from 70+ component types across Lattice primitives, OSS IPs, 3rd-party chips, and power regulators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2011680"/>
            <a:ext cx="320040" cy="73152"/>
          </a:xfrm>
          <a:prstGeom prst="rect">
            <a:avLst/>
          </a:prstGeom>
          <a:solidFill>
            <a:srgbClr val="71717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1371600"/>
            <a:ext cx="2560320" cy="4389120"/>
          </a:xfrm>
          <a:prstGeom prst="rect">
            <a:avLst/>
          </a:prstGeom>
          <a:solidFill>
            <a:srgbClr val="252538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14800" y="155448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53619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1E2E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377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A78BFA"/>
                </a:solidFill>
              </a:rPr>
              <a:t>Draw connections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97180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1A1AA"/>
                </a:solidFill>
              </a:rPr>
              <a:t>Ports are typed and directional — invalid wires are rejected automatically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2011680"/>
            <a:ext cx="320040" cy="73152"/>
          </a:xfrm>
          <a:prstGeom prst="rect">
            <a:avLst/>
          </a:prstGeom>
          <a:solidFill>
            <a:srgbClr val="71717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1371600"/>
            <a:ext cx="2560320" cy="4389120"/>
          </a:xfrm>
          <a:prstGeom prst="rect">
            <a:avLst/>
          </a:prstGeom>
          <a:solidFill>
            <a:srgbClr val="252538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0" y="1554480"/>
            <a:ext cx="640080" cy="64008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153619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1E2E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377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ADE80"/>
                </a:solidFill>
              </a:rPr>
              <a:t>Configure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97180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1A1AA"/>
                </a:solidFill>
              </a:rPr>
              <a:t>Click any block to set instance name, clock domain, Fmax target, and edit/add ports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1371600"/>
            <a:ext cx="2560320" cy="4389120"/>
          </a:xfrm>
          <a:prstGeom prst="rect">
            <a:avLst/>
          </a:prstGeom>
          <a:solidFill>
            <a:srgbClr val="252538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66960" y="1554480"/>
            <a:ext cx="640080" cy="64008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153619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1E2E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377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ACC15"/>
                </a:solidFill>
              </a:rPr>
              <a:t>Export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97180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1A1AA"/>
                </a:solidFill>
              </a:rPr>
              <a:t>One click: JSON netlist, structural Verilog (.v), or structural VHDL (.vhd) — ready for Radiant or Vivado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64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181F8"/>
                </a:solidFill>
              </a:rPr>
              <a:t>COMPONENT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0"/>
                </a:solidFill>
              </a:rPr>
              <a:t>70+ components across 6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371600"/>
            <a:ext cx="3749039" cy="2148840"/>
          </a:xfrm>
          <a:prstGeom prst="rect">
            <a:avLst/>
          </a:prstGeom>
          <a:solidFill>
            <a:srgbClr val="252538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371600"/>
            <a:ext cx="3749039" cy="73152"/>
          </a:xfrm>
          <a:prstGeom prst="rect">
            <a:avLst/>
          </a:prstGeom>
          <a:solidFill>
            <a:srgbClr val="6366F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</a:rPr>
              <a:t>Primitives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554480"/>
            <a:ext cx="5486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5544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1E2E"/>
                </a:solidFill>
              </a:rPr>
              <a:t>5 blocks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659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</a:rPr>
              <a:t>Generic IP · PLL/Clock · I/O Pad
DSP Block · RAM Block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2" y="1371600"/>
            <a:ext cx="3749039" cy="2148840"/>
          </a:xfrm>
          <a:prstGeom prst="rect">
            <a:avLst/>
          </a:prstGeom>
          <a:solidFill>
            <a:srgbClr val="252538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7952" y="1371600"/>
            <a:ext cx="3749039" cy="73152"/>
          </a:xfrm>
          <a:prstGeom prst="rect">
            <a:avLst/>
          </a:prstGeom>
          <a:solidFill>
            <a:srgbClr val="0EA5E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1508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PCIe &amp; High-Speed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51192" y="1554480"/>
            <a:ext cx="548640" cy="2560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51192" y="15544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1E2E"/>
                </a:solidFill>
              </a:rPr>
              <a:t>5 blocks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19659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</a:rPr>
              <a:t>SerDes PMA · PCIe PCS · PCIe Ctrl
Ethernet MAC · MIPI D-PHY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47304" y="1371600"/>
            <a:ext cx="3749039" cy="2148840"/>
          </a:xfrm>
          <a:prstGeom prst="rect">
            <a:avLst/>
          </a:prstGeom>
          <a:solidFill>
            <a:srgbClr val="25253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47304" y="1371600"/>
            <a:ext cx="3749039" cy="73152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4" y="1508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Memory Controllers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210544" y="1554480"/>
            <a:ext cx="54864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10544" y="15544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1E2E"/>
                </a:solidFill>
              </a:rPr>
              <a:t>3 blocks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19659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</a:rPr>
              <a:t>DDR3 · DDR4 · LPDDR4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3749039"/>
            <a:ext cx="3749039" cy="2148840"/>
          </a:xfrm>
          <a:prstGeom prst="rect">
            <a:avLst/>
          </a:prstGeom>
          <a:solidFill>
            <a:srgbClr val="252538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3749039"/>
            <a:ext cx="3749039" cy="73152"/>
          </a:xfrm>
          <a:prstGeom prst="rect">
            <a:avLst/>
          </a:prstGeom>
          <a:solidFill>
            <a:srgbClr val="8B5C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88619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Open Source IPs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931919"/>
            <a:ext cx="548640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3931919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1E2E"/>
                </a:solidFill>
              </a:rPr>
              <a:t>16 blocks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343399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</a:rPr>
              <a:t>VexRiscv · PicoRV32 · LiteDRAM
LiteEth · AXI Crossbar · AES · FFT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87952" y="3749039"/>
            <a:ext cx="3749039" cy="2148840"/>
          </a:xfrm>
          <a:prstGeom prst="rect">
            <a:avLst/>
          </a:prstGeom>
          <a:solidFill>
            <a:srgbClr val="2525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87952" y="3749039"/>
            <a:ext cx="3749039" cy="73152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25112" y="388619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Power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51192" y="3931919"/>
            <a:ext cx="54864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51192" y="3931919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1E2E"/>
                </a:solidFill>
              </a:rPr>
              <a:t>7 blocks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25112" y="4343399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</a:rPr>
              <a:t>LDO · Buck · Boost · Buck-Boost
Multi-Phase · PMBus · Sequencer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47304" y="3749039"/>
            <a:ext cx="3749039" cy="2148840"/>
          </a:xfrm>
          <a:prstGeom prst="rect">
            <a:avLst/>
          </a:prstGeom>
          <a:solidFill>
            <a:srgbClr val="252538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47304" y="3749039"/>
            <a:ext cx="3749039" cy="73152"/>
          </a:xfrm>
          <a:prstGeom prst="rect">
            <a:avLst/>
          </a:prstGeom>
          <a:solidFill>
            <a:srgbClr val="EC489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84464" y="388619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C4899"/>
                </a:solidFill>
              </a:rPr>
              <a:t>3rd Party Chips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210544" y="3931919"/>
            <a:ext cx="548640" cy="25603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210544" y="3931919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1E2E"/>
                </a:solidFill>
              </a:rPr>
              <a:t>26 blocks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4464" y="4343399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</a:rPr>
              <a:t>Ethernet PHY · DDR3 SDRAM · HyperRAM
MIPI Camera · Radar · IMU · HDMI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64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181F8"/>
                </a:solidFill>
              </a:rPr>
              <a:t>CANVAS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0"/>
                </a:solidFill>
              </a:rPr>
              <a:t>Smart connections, not just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527048"/>
            <a:ext cx="45720" cy="502920"/>
          </a:xfrm>
          <a:prstGeom prst="rect">
            <a:avLst/>
          </a:prstGeom>
          <a:solidFill>
            <a:srgbClr val="FACC1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CC15"/>
                </a:solidFill>
              </a:rPr>
              <a:t>Typed 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5623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</a:rPr>
              <a:t>Every port has a direction (in/out/bidir) and signal type (clock, data, control, AXI, power)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2487168"/>
            <a:ext cx="45720" cy="502920"/>
          </a:xfrm>
          <a:prstGeom prst="rect">
            <a:avLst/>
          </a:prstGeom>
          <a:solidFill>
            <a:srgbClr val="F8717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4688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Connection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8163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</a:rPr>
              <a:t>Output→output and clock→data connections are blocked at draw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3447288"/>
            <a:ext cx="45720" cy="502920"/>
          </a:xfrm>
          <a:prstGeom prst="rect">
            <a:avLst/>
          </a:prstGeom>
          <a:solidFill>
            <a:srgbClr val="A78BF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4290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Bus width encoding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764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</a:rPr>
              <a:t>Wire thickness scales with bit-width — 1-bit vs 256-bit buses are visually distinct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4407408"/>
            <a:ext cx="45720" cy="502920"/>
          </a:xfrm>
          <a:prstGeom prst="rect">
            <a:avLst/>
          </a:prstGeom>
          <a:solidFill>
            <a:srgbClr val="4ADE8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3891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Snap to grid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73659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</a:rPr>
              <a:t>16px grid keeps diagrams tidy without manual alignment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5367528"/>
            <a:ext cx="45720" cy="502920"/>
          </a:xfrm>
          <a:prstGeom prst="rect">
            <a:avLst/>
          </a:prstGeom>
          <a:solidFill>
            <a:srgbClr val="FB923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3492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923C"/>
                </a:solidFill>
              </a:rPr>
              <a:t>MiniMap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69671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</a:rPr>
              <a:t>Thumbnail overview for navigating large multi-block designs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371600"/>
            <a:ext cx="5394960" cy="5029200"/>
          </a:xfrm>
          <a:prstGeom prst="rect">
            <a:avLst/>
          </a:prstGeom>
          <a:solidFill>
            <a:srgbClr val="252538"/>
          </a:solidFill>
          <a:ln w="1270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508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Signal Type Legend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11680"/>
            <a:ext cx="11823192" cy="18288"/>
          </a:xfrm>
          <a:prstGeom prst="rect">
            <a:avLst/>
          </a:prstGeom>
          <a:solidFill>
            <a:srgbClr val="25253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83680" y="2258568"/>
            <a:ext cx="256032" cy="256032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220370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CC15"/>
                </a:solidFill>
              </a:rPr>
              <a:t>Clock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4963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</a:rPr>
              <a:t>Dashed wire · triggers sequential logic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3035808"/>
            <a:ext cx="256032" cy="256032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298094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2735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</a:rPr>
              <a:t>Width-encoded · general purpose buses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0" y="3813048"/>
            <a:ext cx="256032" cy="256032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375818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923C"/>
                </a:solidFill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0507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</a:rPr>
              <a:t>Enable, reset, chip-select signals</a:t>
            </a:r>
          </a:p>
        </p:txBody>
      </p:sp>
      <p:sp>
        <p:nvSpPr>
          <p:cNvPr id="32" name="Oval 31"/>
          <p:cNvSpPr/>
          <p:nvPr/>
        </p:nvSpPr>
        <p:spPr>
          <a:xfrm>
            <a:off x="6583680" y="4590288"/>
            <a:ext cx="256032" cy="2560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453542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AXI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8280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</a:rPr>
              <a:t>AXI4 / AXI4-Lite / AXI4-Stream buses</a:t>
            </a:r>
          </a:p>
        </p:txBody>
      </p:sp>
      <p:sp>
        <p:nvSpPr>
          <p:cNvPr id="35" name="Oval 34"/>
          <p:cNvSpPr/>
          <p:nvPr/>
        </p:nvSpPr>
        <p:spPr>
          <a:xfrm>
            <a:off x="6583680" y="5367528"/>
            <a:ext cx="256032" cy="256032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53126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Power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56052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</a:rPr>
              <a:t>VDD, GND, power rails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64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181F8"/>
                </a:solidFill>
              </a:rPr>
              <a:t>EXPORT FORMATS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0"/>
                </a:solidFill>
              </a:rPr>
              <a:t>From diagram to RTL in one click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325880"/>
            <a:ext cx="3749039" cy="5120640"/>
          </a:xfrm>
          <a:prstGeom prst="rect">
            <a:avLst/>
          </a:prstGeom>
          <a:solidFill>
            <a:srgbClr val="252538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325880"/>
            <a:ext cx="3749039" cy="73152"/>
          </a:xfrm>
          <a:prstGeom prst="rect">
            <a:avLst/>
          </a:prstGeom>
          <a:solidFill>
            <a:srgbClr val="4ADE8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94360" cy="2743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1E2E"/>
                </a:solidFill>
              </a:rPr>
              <a:t>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DE80"/>
                </a:solidFill>
              </a:rPr>
              <a:t>JSON Netlist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039112"/>
            <a:ext cx="3429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</a:rPr>
              <a:t>Structured machine-readable netlist.
Contains all modules (ip_type, instance_name, ports, clock_domain, fmax) and all nets (source/target instance+port, bus width, signal type).
Use for: version control, design reviews, custom automation scripts.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2" y="1325880"/>
            <a:ext cx="3749039" cy="5120640"/>
          </a:xfrm>
          <a:prstGeom prst="rect">
            <a:avLst/>
          </a:prstGeom>
          <a:solidFill>
            <a:srgbClr val="252538"/>
          </a:solidFill>
          <a:ln w="19050">
            <a:solidFill>
              <a:srgbClr val="818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7952" y="1325880"/>
            <a:ext cx="3749039" cy="73152"/>
          </a:xfrm>
          <a:prstGeom prst="rect">
            <a:avLst/>
          </a:prstGeom>
          <a:solidFill>
            <a:srgbClr val="8181F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508760"/>
            <a:ext cx="594360" cy="274320"/>
          </a:xfrm>
          <a:prstGeom prst="rect">
            <a:avLst/>
          </a:prstGeom>
          <a:solidFill>
            <a:srgbClr val="818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5112" y="15087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1E2E"/>
                </a:solidFill>
              </a:rPr>
              <a:t>.v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150876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181F8"/>
                </a:solidFill>
              </a:rPr>
              <a:t>Verilog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2544" y="2039112"/>
            <a:ext cx="3429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</a:rPr>
              <a:t>Structural Verilog top-level.
• Black-box module declarations
• Wire declarations (width-correct)
• Named port-map instantiations
• Inline vendor primitive hints
  (Radiant ↔ Vivado equivalents)
Import directly into Lattice Radiant or Xilinx Vivado as a design source.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47304" y="1325880"/>
            <a:ext cx="3749039" cy="5120640"/>
          </a:xfrm>
          <a:prstGeom prst="rect">
            <a:avLst/>
          </a:prstGeom>
          <a:solidFill>
            <a:srgbClr val="252538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47304" y="1325880"/>
            <a:ext cx="3749039" cy="73152"/>
          </a:xfrm>
          <a:prstGeom prst="rect">
            <a:avLst/>
          </a:prstGeom>
          <a:solidFill>
            <a:srgbClr val="A78BF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84464" y="1508760"/>
            <a:ext cx="594360" cy="274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5087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1E2E"/>
                </a:solidFill>
              </a:rPr>
              <a:t>.vhd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150876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</a:rPr>
              <a:t>VHDL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2039112"/>
            <a:ext cx="3429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</a:rPr>
              <a:t>Structural VHDL — entity / architecture structural.
• Component declarations per module type
• Signal declarations
• Port-map instantiations
• Unconnected ports → open
Import directly into Lattice Radiant or Xilinx Vivado as a design source.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64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181F8"/>
                </a:solidFill>
              </a:rPr>
              <a:t>FUTURE: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0"/>
                </a:solidFill>
              </a:rPr>
              <a:t>Natural language → block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029200" cy="1280160"/>
          </a:xfrm>
          <a:prstGeom prst="rect">
            <a:avLst/>
          </a:prstGeom>
          <a:solidFill>
            <a:srgbClr val="1A1A3E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</a:rPr>
              <a:t>Engineer types: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181F8"/>
                </a:solidFill>
              </a:rPr>
              <a:t>"Design a PCIe Gen3 system with DDR4,
Gigabit Ethernet, and a RISC-V processor"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0680" y="18288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4F46E5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577840" cy="1280160"/>
          </a:xfrm>
          <a:prstGeom prst="rect">
            <a:avLst/>
          </a:prstGeom>
          <a:solidFill>
            <a:srgbClr val="1A1A3E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</a:rPr>
              <a:t>AI agent auto-populates: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DE80"/>
                </a:solidFill>
              </a:rPr>
              <a:t>PCIe Ctrl · SerDes PMA · DDR4 Ctrl
DDR4 SDRAM · VexRiscv · Ethernet MAC
Ethernet PHY — all wired correctly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8803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</a:rPr>
              <a:t>How it would 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337560"/>
            <a:ext cx="2788920" cy="3108960"/>
          </a:xfrm>
          <a:prstGeom prst="rect">
            <a:avLst/>
          </a:prstGeom>
          <a:solidFill>
            <a:srgbClr val="252538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5204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</a:rPr>
              <a:t>Claude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995928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</a:rPr>
              <a:t>Engineer describes the design in plain English via a chat panel in the tool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3337560"/>
            <a:ext cx="2788920" cy="3108960"/>
          </a:xfrm>
          <a:prstGeom prst="rect">
            <a:avLst/>
          </a:prstGeom>
          <a:solidFill>
            <a:srgbClr val="252538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35204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Tool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995928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</a:rPr>
              <a:t>Claude calls structured tools to addNode(), addEdge(), setPort() — same API as the canvas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337560"/>
            <a:ext cx="2788920" cy="3108960"/>
          </a:xfrm>
          <a:prstGeom prst="rect">
            <a:avLst/>
          </a:prstGeom>
          <a:solidFill>
            <a:srgbClr val="252538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5204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995928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</a:rPr>
              <a:t>Connection rules still enforced — AI cannot produce invalid wiring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3337560"/>
            <a:ext cx="2788920" cy="3108960"/>
          </a:xfrm>
          <a:prstGeom prst="rect">
            <a:avLst/>
          </a:prstGeom>
          <a:solidFill>
            <a:srgbClr val="252538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35204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CC15"/>
                </a:solidFill>
              </a:rPr>
              <a:t>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995928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</a:rPr>
              <a:t>Engineer reviews the generated diagram and exports Verilog/VHDL as normal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1717A"/>
                </a:solidFill>
              </a:rPr>
              <a:t>⚡  Backend needed: Next.js API route + Anthropic SDK (~1 day of work)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64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181F8"/>
                </a:solidFill>
              </a:rPr>
              <a:t>DEPLOYMENT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0"/>
                </a:solidFill>
              </a:rPr>
              <a:t>Zero infrastructure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325880"/>
            <a:ext cx="5669280" cy="2377440"/>
          </a:xfrm>
          <a:prstGeom prst="rect">
            <a:avLst/>
          </a:prstGeom>
          <a:solidFill>
            <a:srgbClr val="252538"/>
          </a:solidFill>
          <a:ln w="19050">
            <a:solidFill>
              <a:srgbClr val="818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325880"/>
            <a:ext cx="5669280" cy="64008"/>
          </a:xfrm>
          <a:prstGeom prst="rect">
            <a:avLst/>
          </a:prstGeom>
          <a:solidFill>
            <a:srgbClr val="8181F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4630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181F8"/>
                </a:solidFill>
              </a:rPr>
              <a:t>Vercel (live now)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984248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</a:rPr>
              <a:t>Free tier · GitHub-connected
Auto-redeploys on every commit
Access from any device, anywhere
URL: fpga-block-editor.vercel.app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3794760" y="1984248"/>
            <a:ext cx="1920240" cy="1371600"/>
          </a:xfrm>
          <a:prstGeom prst="rect">
            <a:avLst/>
          </a:prstGeom>
          <a:solidFill>
            <a:srgbClr val="12121F"/>
          </a:solidFill>
          <a:ln w="9525">
            <a:solidFill>
              <a:srgbClr val="818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2075688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181F8"/>
                </a:solidFill>
              </a:rPr>
              <a:t>Recommended for sharing with
remote / field AEs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325880"/>
            <a:ext cx="5669280" cy="2377440"/>
          </a:xfrm>
          <a:prstGeom prst="rect">
            <a:avLst/>
          </a:prstGeom>
          <a:solidFill>
            <a:srgbClr val="252538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325880"/>
            <a:ext cx="5669280" cy="64008"/>
          </a:xfrm>
          <a:prstGeom prst="rect">
            <a:avLst/>
          </a:prstGeom>
          <a:solidFill>
            <a:srgbClr val="4ADE8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4630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</a:rPr>
              <a:t>Static file share
(internal network)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984248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</a:rPr>
              <a:t>Copy out/ folder to a Windows
file share or IIS web root
No server software needed
Works fully offline
Open index.html in Edge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38360" y="1984248"/>
            <a:ext cx="1920240" cy="1371600"/>
          </a:xfrm>
          <a:prstGeom prst="rect">
            <a:avLst/>
          </a:prstGeom>
          <a:solidFill>
            <a:srgbClr val="12121F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800" y="2075688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DE80"/>
                </a:solidFill>
              </a:rPr>
              <a:t>Best for air-gapped
or on-premise environments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931920"/>
            <a:ext cx="5669280" cy="2377440"/>
          </a:xfrm>
          <a:prstGeom prst="rect">
            <a:avLst/>
          </a:prstGeom>
          <a:solidFill>
            <a:srgbClr val="252538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3931920"/>
            <a:ext cx="5669280" cy="64008"/>
          </a:xfrm>
          <a:prstGeom prst="rect">
            <a:avLst/>
          </a:prstGeom>
          <a:solidFill>
            <a:srgbClr val="FB923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40690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923C"/>
                </a:solidFill>
              </a:rPr>
              <a:t>Windows laptop
(local dev)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" y="4590288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</a:rPr>
              <a:t>Install Node.js 22 from nodejs.org
npm install
npm run dev
Opens at localhost:3000
Full live-reload for customisation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94760" y="4590288"/>
            <a:ext cx="1920240" cy="1371600"/>
          </a:xfrm>
          <a:prstGeom prst="rect">
            <a:avLst/>
          </a:prstGeom>
          <a:solidFill>
            <a:srgbClr val="12121F"/>
          </a:solidFill>
          <a:ln w="952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6200" y="4681728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B923C"/>
                </a:solidFill>
              </a:rPr>
              <a:t>Best for engineers who want
to modify or extend the tool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931920"/>
            <a:ext cx="5669280" cy="2377440"/>
          </a:xfrm>
          <a:prstGeom prst="rect">
            <a:avLst/>
          </a:prstGeom>
          <a:solidFill>
            <a:srgbClr val="252538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931920"/>
            <a:ext cx="5669280" cy="64008"/>
          </a:xfrm>
          <a:prstGeom prst="rect">
            <a:avLst/>
          </a:prstGeom>
          <a:solidFill>
            <a:srgbClr val="A78BF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40690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Azure Static
Web Apps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4590288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</a:rPr>
              <a:t>Enterprise Azure tenant
Supports AAD / SSO integration
Built-in CI/CD from GitHub
Free tier available
az staticwebapp create ...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38360" y="4590288"/>
            <a:ext cx="1920240" cy="1371600"/>
          </a:xfrm>
          <a:prstGeom prst="rect">
            <a:avLst/>
          </a:prstGeom>
          <a:solidFill>
            <a:srgbClr val="12121F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9800" y="4681728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78BFA"/>
                </a:solidFill>
              </a:rPr>
              <a:t>Best for enterprise with
existing Azure footprint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200400"/>
            <a:ext cx="5486400" cy="5486400"/>
          </a:xfrm>
          <a:prstGeom prst="ellipse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0"/>
                </a:solidFill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371600"/>
            <a:ext cx="54864" cy="411480"/>
          </a:xfrm>
          <a:prstGeom prst="rect">
            <a:avLst/>
          </a:prstGeom>
          <a:solidFill>
            <a:srgbClr val="4ADE8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325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✓  Live on Vercel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64592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</a:rPr>
              <a:t>Shareable URL — no install for AEs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2075688"/>
            <a:ext cx="54864" cy="411480"/>
          </a:xfrm>
          <a:prstGeom prst="rect">
            <a:avLst/>
          </a:prstGeom>
          <a:solidFill>
            <a:srgbClr val="4ADE8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202996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✓  Offline zip 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350008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</a:rPr>
              <a:t>Works from a Windows file share or USB drive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779776"/>
            <a:ext cx="54864" cy="411480"/>
          </a:xfrm>
          <a:prstGeom prst="rect">
            <a:avLst/>
          </a:prstGeom>
          <a:solidFill>
            <a:srgbClr val="4ADE8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73405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✓  70+ components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054096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</a:rPr>
              <a:t>Lattice primitives, OSS IPs, power, 3rd-party chips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483864"/>
            <a:ext cx="54864" cy="411480"/>
          </a:xfrm>
          <a:prstGeom prst="rect">
            <a:avLst/>
          </a:prstGeom>
          <a:solidFill>
            <a:srgbClr val="4ADE8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343814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✓  Verilog + VHDL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758184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</a:rPr>
              <a:t>Structural RTL ready for Radiant or Vivado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4187951"/>
            <a:ext cx="54864" cy="411480"/>
          </a:xfrm>
          <a:prstGeom prst="rect">
            <a:avLst/>
          </a:prstGeom>
          <a:solidFill>
            <a:srgbClr val="8181F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4142231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181F8"/>
                </a:solidFill>
              </a:rPr>
              <a:t>◎  AI agent (next step)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4462271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</a:rPr>
              <a:t>Claude API → natural language → auto-generated diagrams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892040"/>
            <a:ext cx="54864" cy="411480"/>
          </a:xfrm>
          <a:prstGeom prst="rect">
            <a:avLst/>
          </a:prstGeom>
          <a:solidFill>
            <a:srgbClr val="FB923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4846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923C"/>
                </a:solidFill>
              </a:rPr>
              <a:t>◎  Import / load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516636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</a:rPr>
              <a:t>Load a previously saved JSON back onto the canvas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5596128"/>
            <a:ext cx="54864" cy="411480"/>
          </a:xfrm>
          <a:prstGeom prst="rect">
            <a:avLst/>
          </a:prstGeom>
          <a:solidFill>
            <a:srgbClr val="A78BF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55504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◎  Constraint export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5870448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</a:rPr>
              <a:t>.xdc / .pdc timing constraint file from clock domains + Fmax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6492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F3F5C"/>
                </a:solidFill>
              </a:rPr>
              <a:t>Built with Next.js · React Flow · Zustand · TypeScript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